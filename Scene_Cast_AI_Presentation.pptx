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U-Net + MobileNetV2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Dice</c:v>
                  </c:pt>
                  <c:pt idx="1">
                    <c:v>IoU</c:v>
                  </c:pt>
                  <c:pt idx="2">
                    <c:v>F1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0.8853</c:v>
                </c:pt>
                <c:pt idx="1">
                  <c:v>0.7943</c:v>
                </c:pt>
                <c:pt idx="2">
                  <c:v>0.8853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SegFormer (mit-b0)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Dice</c:v>
                  </c:pt>
                  <c:pt idx="1">
                    <c:v>IoU</c:v>
                  </c:pt>
                  <c:pt idx="2">
                    <c:v>F1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0.8631</c:v>
                </c:pt>
                <c:pt idx="1">
                  <c:v>0.7591</c:v>
                </c:pt>
                <c:pt idx="2">
                  <c:v>0.8631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F4B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Dice</c:v>
                  </c:pt>
                  <c:pt idx="1">
                    <c:v>IoU</c:v>
                  </c:pt>
                  <c:pt idx="2">
                    <c:v>F1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0.92</c:v>
                </c:pt>
                <c:pt idx="1">
                  <c:v>0.88</c:v>
                </c:pt>
                <c:pt idx="2">
                  <c:v>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1E1E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 (ms)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4B4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U-Net</c:v>
                  </c:pt>
                  <c:pt idx="1">
                    <c:v>SegFormer</c:v>
                  </c:pt>
                  <c:pt idx="2">
                    <c:v>Target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75.9</c:v>
                </c:pt>
                <c:pt idx="1">
                  <c:v>10.6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1E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FF4B4B">
              <a:alpha val="12000"/>
            </a:srgbClr>
          </a:solidFill>
          <a:ln w="12700">
            <a:solidFill>
              <a:srgbClr val="FF4B4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097280"/>
            <a:ext cx="1828800" cy="18288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🎬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Scene Cast 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Face Segmentation for Movie Cast Identification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3657600" cy="36576"/>
          </a:xfrm>
          <a:prstGeom prst="rect">
            <a:avLst/>
          </a:prstGeom>
          <a:solidFill>
            <a:srgbClr val="94A3B8">
              <a:alpha val="60000"/>
            </a:srgbClr>
          </a:solidFill>
          <a:ln w="12700">
            <a:solidFill>
              <a:srgbClr val="94A3B8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Automatically detect &amp; segment faces in movie scenes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users can pause and instantly view cast/crew details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1737360" cy="292608"/>
          </a:xfrm>
          <a:prstGeom prst="rect">
            <a:avLst/>
          </a:prstGeom>
          <a:solidFill>
            <a:srgbClr val="1E1E2E"/>
          </a:solidFill>
          <a:ln w="12700">
            <a:solidFill>
              <a:srgbClr val="FF4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2062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4206240"/>
            <a:ext cx="1737360" cy="292608"/>
          </a:xfrm>
          <a:prstGeom prst="rect">
            <a:avLst/>
          </a:prstGeom>
          <a:solidFill>
            <a:srgbClr val="1E1E2E"/>
          </a:solidFill>
          <a:ln w="12700">
            <a:solidFill>
              <a:srgbClr val="FF4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77440" y="42062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TensorFlow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4206240"/>
            <a:ext cx="1737360" cy="292608"/>
          </a:xfrm>
          <a:prstGeom prst="rect">
            <a:avLst/>
          </a:prstGeom>
          <a:solidFill>
            <a:srgbClr val="1E1E2E"/>
          </a:solidFill>
          <a:ln w="12700">
            <a:solidFill>
              <a:srgbClr val="FF4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0" y="42062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U-Net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4206240"/>
            <a:ext cx="1737360" cy="292608"/>
          </a:xfrm>
          <a:prstGeom prst="rect">
            <a:avLst/>
          </a:prstGeom>
          <a:solidFill>
            <a:srgbClr val="1E1E2E"/>
          </a:solidFill>
          <a:ln w="12700">
            <a:solidFill>
              <a:srgbClr val="FF4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42062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MobileNetV2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1737360" cy="292608"/>
          </a:xfrm>
          <a:prstGeom prst="rect">
            <a:avLst/>
          </a:prstGeom>
          <a:solidFill>
            <a:srgbClr val="1E1E2E"/>
          </a:solidFill>
          <a:ln w="12700">
            <a:solidFill>
              <a:srgbClr val="FF4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6177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77440" y="4617720"/>
            <a:ext cx="1737360" cy="292608"/>
          </a:xfrm>
          <a:prstGeom prst="rect">
            <a:avLst/>
          </a:prstGeom>
          <a:solidFill>
            <a:srgbClr val="1E1E2E"/>
          </a:solidFill>
          <a:ln w="12700">
            <a:solidFill>
              <a:srgbClr val="FF4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377440" y="46177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OpenCV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4617720"/>
            <a:ext cx="1737360" cy="292608"/>
          </a:xfrm>
          <a:prstGeom prst="rect">
            <a:avLst/>
          </a:prstGeom>
          <a:solidFill>
            <a:srgbClr val="1E1E2E"/>
          </a:solidFill>
          <a:ln w="12700">
            <a:solidFill>
              <a:srgbClr val="FF4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97680" y="46177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DeepFace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4B4B">
              <a:alpha val="40000"/>
            </a:srgbClr>
          </a:solidFill>
          <a:ln w="12700">
            <a:solidFill>
              <a:srgbClr val="FF4B4B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1E1E2E"/>
          </a:solidFill>
          <a:ln w="19050">
            <a:solidFill>
              <a:srgbClr val="FF4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601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4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Challenge: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X's streaming app needs to automatically detect and segment faces in movie scene screenshots so users can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pause videos and instantly view cast/crew details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actors on screen.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💼  Business Value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4023360" cy="960120"/>
          </a:xfrm>
          <a:prstGeom prst="rect">
            <a:avLst/>
          </a:prstGeom>
          <a:solidFill>
            <a:srgbClr val="1E1E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8163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⏸️  Pause &amp; Identify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0906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pause movies to see actor names &amp; profiles overlayed on detected faces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743200"/>
            <a:ext cx="4023360" cy="960120"/>
          </a:xfrm>
          <a:prstGeom prst="rect">
            <a:avLst/>
          </a:prstGeom>
          <a:solidFill>
            <a:srgbClr val="1E1E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28163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Personalized Recs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30906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viewer preferences for specific actors across films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4023360" cy="960120"/>
          </a:xfrm>
          <a:prstGeom prst="rect">
            <a:avLst/>
          </a:prstGeom>
          <a:solidFill>
            <a:srgbClr val="1E1E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913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🔞  Content Moderation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1879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Automatically flag inappropriate scenes via face detection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840480"/>
            <a:ext cx="4023360" cy="960120"/>
          </a:xfrm>
          <a:prstGeom prst="rect">
            <a:avLst/>
          </a:prstGeom>
          <a:solidFill>
            <a:srgbClr val="1E1E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913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📢  Dynamic Ads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41879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ads featuring favourite actors during streaming breaks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4B4B">
              <a:alpha val="40000"/>
            </a:srgbClr>
          </a:solidFill>
          <a:ln w="12700">
            <a:solidFill>
              <a:srgbClr val="FF4B4B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9834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Scene Cast AI  |  Face Segmentation Project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&amp; EDA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920240" cy="1188720"/>
          </a:xfrm>
          <a:prstGeom prst="rect">
            <a:avLst/>
          </a:prstGeom>
          <a:solidFill>
            <a:srgbClr val="1E1E2E"/>
          </a:solidFill>
          <a:ln w="19050">
            <a:solidFill>
              <a:srgbClr val="FF4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54864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 Scenes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1920240" cy="1188720"/>
          </a:xfrm>
          <a:prstGeom prst="rect">
            <a:avLst/>
          </a:prstGeom>
          <a:solidFill>
            <a:srgbClr val="1E1E2E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914400"/>
            <a:ext cx="19202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1,636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1645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Augmentation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(×4)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1920240" cy="1188720"/>
          </a:xfrm>
          <a:prstGeom prst="rect">
            <a:avLst/>
          </a:prstGeom>
          <a:solidFill>
            <a:srgbClr val="1E1E2E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914400"/>
            <a:ext cx="1920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256×256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0" y="1645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Image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914400"/>
            <a:ext cx="1920240" cy="1188720"/>
          </a:xfrm>
          <a:prstGeom prst="rect">
            <a:avLst/>
          </a:prstGeom>
          <a:solidFill>
            <a:srgbClr val="1E1E2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91440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12.59%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675120" y="1645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Face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Data Format &amp; Structure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4023360" cy="2194560"/>
          </a:xfrm>
          <a:prstGeom prst="rect">
            <a:avLst/>
          </a:prstGeom>
          <a:solidFill>
            <a:srgbClr val="1E1E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2788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.npy file (1.26 GB)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Shape: (409, 2) — object array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data[i][0] → Image (H, W, 3) uint8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data[i][1] → List of annotation dicts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 Keys: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label, points (normalized bbox), imageWidth, imageHeight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Augmentation Strategy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63440" y="2697480"/>
            <a:ext cx="4023360" cy="2194560"/>
          </a:xfrm>
          <a:prstGeom prst="rect">
            <a:avLst/>
          </a:prstGeom>
          <a:solidFill>
            <a:srgbClr val="1E1E2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Original Image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310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↔️  Horizontal Flip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7856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Rotation (15°)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42611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☀️  Brightness Boost (×1.2)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4617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409 × 4 = 1,636 total samples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4B4B">
              <a:alpha val="40000"/>
            </a:srgbClr>
          </a:solidFill>
          <a:ln w="12700">
            <a:solidFill>
              <a:srgbClr val="FF4B4B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9834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Scene Cast AI  |  Face Segmentation Project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Architecture — U-Net + MobileNetV2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508760" cy="1188720"/>
          </a:xfrm>
          <a:prstGeom prst="rect">
            <a:avLst/>
          </a:prstGeom>
          <a:solidFill>
            <a:srgbClr val="1E1E2E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5087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256×256×3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1435608"/>
            <a:ext cx="210312" cy="54864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93392" y="914400"/>
            <a:ext cx="1508760" cy="1188720"/>
          </a:xfrm>
          <a:prstGeom prst="rect">
            <a:avLst/>
          </a:prstGeom>
          <a:solidFill>
            <a:srgbClr val="1E1E2E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914400"/>
            <a:ext cx="1508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00584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MobileNetV2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Encoder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(ImageNet)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02152" y="1435608"/>
            <a:ext cx="210312" cy="54864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12464" y="914400"/>
            <a:ext cx="1508760" cy="1188720"/>
          </a:xfrm>
          <a:prstGeom prst="rect">
            <a:avLst/>
          </a:prstGeom>
          <a:solidFill>
            <a:srgbClr val="1E1E2E"/>
          </a:solidFill>
          <a:ln w="25400">
            <a:solidFill>
              <a:srgbClr val="FF4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12464" y="914400"/>
            <a:ext cx="1508760" cy="6400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100584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4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Bottleneck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4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8×8×320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21224" y="1435608"/>
            <a:ext cx="210312" cy="54864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31536" y="914400"/>
            <a:ext cx="1508760" cy="1188720"/>
          </a:xfrm>
          <a:prstGeom prst="rect">
            <a:avLst/>
          </a:prstGeom>
          <a:solidFill>
            <a:srgbClr val="1E1E2E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31536" y="914400"/>
            <a:ext cx="1508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100584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U-Net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Decoder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(Skip Conn.)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0296" y="1435608"/>
            <a:ext cx="210312" cy="54864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50608" y="914400"/>
            <a:ext cx="1508760" cy="1188720"/>
          </a:xfrm>
          <a:prstGeom prst="rect">
            <a:avLst/>
          </a:prstGeom>
          <a:solidFill>
            <a:srgbClr val="1E1E2E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50608" y="914400"/>
            <a:ext cx="15087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100584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256×256×1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Sigmoid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↑ Skip connections from encoder levels: 128×128, 64×64, 32×32, 16×16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606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 Key Design Choices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7200" y="3017520"/>
            <a:ext cx="402336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31546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Encoder: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3154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MobileNetV2 (ImageNet pretrained)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46557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20240" y="346557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Dice + Binary CrossEntropy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37764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920240" y="37764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Dice Coefficient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40873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Dropout: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920240" y="40873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SpatialDropout2D (0.3)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43982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Optimizer: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920240" y="439826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Adam (lr: 1e-3 → 8e-6)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2606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🏋️  Training Strategy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663440" y="3017520"/>
            <a:ext cx="4023360" cy="1828800"/>
          </a:xfrm>
          <a:prstGeom prst="rect">
            <a:avLst/>
          </a:prstGeom>
          <a:solidFill>
            <a:srgbClr val="1E1E2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3154680"/>
            <a:ext cx="1005840" cy="64008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1546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31546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Encoder FROZEN (20 epochs)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lr = 1e-3  |  Decoder trains fast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977640"/>
            <a:ext cx="1005840" cy="640080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9776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0" y="3977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Fine-tuning (50 epochs)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lr = 1e-4  |  End-to-end training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466344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Callbacks: EarlyStopping | ReduceLROnPlateau | ModelCheckpoint | CSVLogger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4B4B">
              <a:alpha val="40000"/>
            </a:srgbClr>
          </a:solidFill>
          <a:ln w="12700">
            <a:solidFill>
              <a:srgbClr val="FF4B4B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9834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Scene Cast AI  |  Face Segmentation Project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920240" cy="2560320"/>
          </a:xfrm>
          <a:prstGeom prst="rect">
            <a:avLst/>
          </a:prstGeom>
          <a:solidFill>
            <a:srgbClr val="1E1E2E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Coefficient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U-Net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0.8853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212140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SegFormer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3042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0.8631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1371600" cy="27432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 &gt;0.92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914400"/>
            <a:ext cx="1920240" cy="2560320"/>
          </a:xfrm>
          <a:prstGeom prst="rect">
            <a:avLst/>
          </a:prstGeom>
          <a:solidFill>
            <a:srgbClr val="1E1E2E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914400"/>
            <a:ext cx="1920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987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IoU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68880" y="15544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U-Net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17373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0.7943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468880" y="212140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SegFormer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68880" y="23042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0.7591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743200" y="2743200"/>
            <a:ext cx="1371600" cy="274320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 &gt;0.88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914400"/>
            <a:ext cx="1920240" cy="2560320"/>
          </a:xfrm>
          <a:prstGeom prst="rect">
            <a:avLst/>
          </a:prstGeom>
          <a:solidFill>
            <a:srgbClr val="1E1E2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914400"/>
            <a:ext cx="1920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987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15544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U-Net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17373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0.8853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0" y="212140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SegFormer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23042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0.8631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846320" y="2743200"/>
            <a:ext cx="1371600" cy="27432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 &gt;0.90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0" y="914400"/>
            <a:ext cx="1920240" cy="2560320"/>
          </a:xfrm>
          <a:prstGeom prst="rect">
            <a:avLst/>
          </a:prstGeom>
          <a:solidFill>
            <a:srgbClr val="1E1E2E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91440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9875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Inference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75120" y="15544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U-Net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75120" y="17373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75.9ms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675120" y="212140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SegFormer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75120" y="23042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10.6ms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949440" y="2743200"/>
            <a:ext cx="1371600" cy="27432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 &lt;100ms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1E1E2E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3152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Speed Target ACHIEVED!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152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U-Net: 75.9ms  ✅  |  SegFormer: 10.6ms (7× faster) ✅  |  Both under 100ms target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U-Net beats SegFormer in accuracy due to more epochs &amp; richer augmentation  |  SegFormer wins in speed (7× faster)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4B4B">
              <a:alpha val="40000"/>
            </a:srgbClr>
          </a:solidFill>
          <a:ln w="12700">
            <a:solidFill>
              <a:srgbClr val="FF4B4B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0" y="49834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Scene Cast AI  |  Face Segmentation Project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Comparison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Speed Comparison</a:t>
            </a:r>
            <a:endParaRPr lang="en-US" sz="15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486400" y="1280160"/>
          <a:ext cx="33832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486400" y="3657600"/>
            <a:ext cx="3383280" cy="1188720"/>
          </a:xfrm>
          <a:prstGeom prst="rect">
            <a:avLst/>
          </a:prstGeom>
          <a:solidFill>
            <a:srgbClr val="1E1E2E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669280" y="37307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 Winner Summary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669280" y="400507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U-Net wins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SegFormer wins (7×)
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4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Deployment: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U-Net recommended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4B4B">
              <a:alpha val="40000"/>
            </a:srgbClr>
          </a:solidFill>
          <a:ln w="12700">
            <a:solidFill>
              <a:srgbClr val="FF4B4B">
                <a:alpha val="4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0" y="49834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Scene Cast AI  |  Face Segmentation Project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 App — Scene Cast 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029200" cy="3931920"/>
          </a:xfrm>
          <a:prstGeom prst="rect">
            <a:avLst/>
          </a:prstGeom>
          <a:solidFill>
            <a:srgbClr val="0D1117"/>
          </a:solidFill>
          <a:ln w="25400">
            <a:solidFill>
              <a:srgbClr val="FF4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5029200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4183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🎬  Scene Cast AI — localhost:8501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🎬 Scene Cast AI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Face Segmentation + Celebrity Recognition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1508760" cy="256032"/>
          </a:xfrm>
          <a:prstGeom prst="rect">
            <a:avLst/>
          </a:prstGeom>
          <a:solidFill>
            <a:srgbClr val="1E1E2E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488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4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📸 Image Upload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03120" y="2148840"/>
            <a:ext cx="150876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1488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Dashboard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03320" y="2148840"/>
            <a:ext cx="150876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1488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ℹ️ About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47548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146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⬆️  Drag and drop file here  |  Browse files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54680"/>
            <a:ext cx="109728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54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75ms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91640" y="3154680"/>
            <a:ext cx="109728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3154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100%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80360" y="3154680"/>
            <a:ext cx="109728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0360" y="3154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2 Faces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69080" y="3154680"/>
            <a:ext cx="109728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3154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📐 1920×1080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3657600"/>
            <a:ext cx="146304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0050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03120" y="3657600"/>
            <a:ext cx="146304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40050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 🟢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03320" y="3657600"/>
            <a:ext cx="146304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40050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 App Features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0" y="1371600"/>
            <a:ext cx="160020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77840" y="14173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📸 Image Upload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77840" y="16733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any movie screenshot (JPG/PNG up to 200MB)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23760" y="1371600"/>
            <a:ext cx="160020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315200" y="14173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🎭 Face Detection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0" y="16733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face segmentation with green overlay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0" y="2286000"/>
            <a:ext cx="160020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577840" y="2331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🌟 Celebrity ID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77840" y="25877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DeepFace VGG-Face + Facenet recognition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23760" y="2286000"/>
            <a:ext cx="160020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315200" y="2331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Analysis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0" y="25877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Age, Gender &amp; Emotion detection per face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86400" y="3200400"/>
            <a:ext cx="160020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577840" y="32461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⬇️ Downloads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577840" y="35021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mask, overlay &amp; detection log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23760" y="3200400"/>
            <a:ext cx="160020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315200" y="32461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Dashboard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315200" y="35021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metrics &amp; comparison table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86400" y="4206240"/>
            <a:ext cx="3383280" cy="594360"/>
          </a:xfrm>
          <a:prstGeom prst="rect">
            <a:avLst/>
          </a:prstGeom>
          <a:solidFill>
            <a:srgbClr val="1E1E2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623560" y="42519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Deployed on Hugging Face Spaces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623560" y="45079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huggingface.co/spaces/Rudra-barman/Face_Segmentation_Movie_Screne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4B4B">
              <a:alpha val="40000"/>
            </a:srgbClr>
          </a:solidFill>
          <a:ln w="12700">
            <a:solidFill>
              <a:srgbClr val="FF4B4B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0" y="49834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Scene Cast AI  |  Face Segmentation Project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 &amp; Tools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1828800"/>
          </a:xfrm>
          <a:prstGeom prst="rect">
            <a:avLst/>
          </a:prstGeom>
          <a:solidFill>
            <a:srgbClr val="1E1E2E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 Deep Learning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990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TensorFlow 2.15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5506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Keras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91109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U-Net Architecture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16712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MobileNetV2 (Transfer Learning)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SegFormer (HuggingFace)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4114800" cy="1828800"/>
          </a:xfrm>
          <a:prstGeom prst="rect">
            <a:avLst/>
          </a:prstGeom>
          <a:solidFill>
            <a:srgbClr val="1E1E2E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60120"/>
            <a:ext cx="41148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👁️  Computer Vision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3990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65506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DeepFace (VGG-Face + Facenet)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91109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Face Segmentation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16712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Bounding Box Detection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4231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Augmentation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4114800" cy="1828800"/>
          </a:xfrm>
          <a:prstGeom prst="rect">
            <a:avLst/>
          </a:prstGeom>
          <a:solidFill>
            <a:srgbClr val="1E1E2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971800"/>
            <a:ext cx="41148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063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Deployment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4107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 Web App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6667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Hugging Face Spaces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9227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Container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1788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LFS (Model Storage)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4348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ngrok (Local Tunnel)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971800"/>
            <a:ext cx="4114800" cy="1828800"/>
          </a:xfrm>
          <a:prstGeom prst="rect">
            <a:avLst/>
          </a:prstGeom>
          <a:solidFill>
            <a:srgbClr val="1E1E2E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7180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063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Libraries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341071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NumPy / Pandas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36667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39227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Pillow (PIL)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1788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Matplotlib / Seaborn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44348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requests / tqdm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4B4B">
              <a:alpha val="40000"/>
            </a:srgbClr>
          </a:solidFill>
          <a:ln w="12700">
            <a:solidFill>
              <a:srgbClr val="FF4B4B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9834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Scene Cast AI  |  Face Segmentation Project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Deliverables &amp; 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Project Deliverables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Jupyter Notebook — EDA, training, evaluation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9344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U-Net model weights (.keras + .weights.h5)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56816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Custom Dice Loss &amp; Dice Coefficient functions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SegFormer alternative model (HuggingFace)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Streamlit demo app (image upload + visualization)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Celebrity recognition (DeepFace VGG-Face)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46704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Performance report (metrics + sample predictions)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694176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GitHub repository with README &amp; requirements.txt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041648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Deployment on Hugging Face Spaces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Key Achievements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1298448"/>
            <a:ext cx="411480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34416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0.8853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1435608"/>
            <a:ext cx="36576" cy="502920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4813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Dice Coefficient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2167128"/>
            <a:ext cx="411480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221284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75.9ms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63640" y="2304288"/>
            <a:ext cx="36576" cy="50292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3500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Inference Speed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3035808"/>
            <a:ext cx="411480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08152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97%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263640" y="3172968"/>
            <a:ext cx="36576" cy="502920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2186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 Accuracy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3904488"/>
            <a:ext cx="411480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395020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Models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263640" y="4041648"/>
            <a:ext cx="36576" cy="50292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0873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Trained &amp; Compared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FF4B4B">
              <a:alpha val="15000"/>
            </a:srgbClr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B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App Live: huggingface.co/spaces/Rudra-barman/Face_Segmentation_Movie_Screne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4B4B">
              <a:alpha val="40000"/>
            </a:srgbClr>
          </a:solidFill>
          <a:ln w="12700">
            <a:solidFill>
              <a:srgbClr val="FF4B4B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9834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Scene Cast AI  |  Face Segmentation Project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Scene Cast AI - Face Segmentation</dc:title>
  <dc:subject>PptxGenJS Presentation</dc:subject>
  <dc:creator>PptxGenJS</dc:creator>
  <cp:lastModifiedBy>PptxGenJS</cp:lastModifiedBy>
  <cp:revision>1</cp:revision>
  <dcterms:created xsi:type="dcterms:W3CDTF">2026-04-26T14:48:51Z</dcterms:created>
  <dcterms:modified xsi:type="dcterms:W3CDTF">2026-04-26T14:48:51Z</dcterms:modified>
</cp:coreProperties>
</file>